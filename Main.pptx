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5" r:id="rId3"/>
    <p:sldId id="260" r:id="rId4"/>
    <p:sldId id="261" r:id="rId5"/>
    <p:sldId id="262" r:id="rId6"/>
    <p:sldId id="263" r:id="rId7"/>
    <p:sldId id="266" r:id="rId8"/>
    <p:sldId id="272" r:id="rId9"/>
    <p:sldId id="264" r:id="rId10"/>
    <p:sldId id="267" r:id="rId11"/>
    <p:sldId id="268" r:id="rId12"/>
    <p:sldId id="269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74" autoAdjust="0"/>
    <p:restoredTop sz="74503" autoAdjust="0"/>
  </p:normalViewPr>
  <p:slideViewPr>
    <p:cSldViewPr snapToGrid="0">
      <p:cViewPr varScale="1">
        <p:scale>
          <a:sx n="55" d="100"/>
          <a:sy n="55" d="100"/>
        </p:scale>
        <p:origin x="1284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56DC1A2-78D5-4EC1-8367-3E94492B0E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9B18F5-136E-40A8-B431-4E4B26D44CD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55E38-7C3D-4F1D-B82F-41AF0F4DFFBF}" type="datetimeFigureOut">
              <a:rPr lang="en-GB" smtClean="0"/>
              <a:t>13/09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1023CF-7C84-4613-AA94-9ABE5F1C5E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CADEC2-4BDE-4856-8CBA-6411ED98B70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6FDF18-1EF8-48ED-A241-761579F60D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0454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4E4D5-C9E1-4779-BA95-275FC3803B17}" type="datetimeFigureOut">
              <a:rPr lang="en-GB" smtClean="0"/>
              <a:t>13/09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A792D0-D513-442F-A6B2-0F390BDCE0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5727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92D0-D513-442F-A6B2-0F390BDCE09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19519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Generator is considered to be a PMSG. </a:t>
            </a:r>
            <a:r>
              <a:rPr lang="en-GB" b="1" dirty="0"/>
              <a:t>Construction</a:t>
            </a:r>
            <a:r>
              <a:rPr lang="en-GB" dirty="0"/>
              <a:t>. </a:t>
            </a:r>
            <a:r>
              <a:rPr lang="en-GB" b="1" dirty="0"/>
              <a:t>Advantage</a:t>
            </a:r>
            <a:r>
              <a:rPr lang="en-GB" dirty="0"/>
              <a:t>: energy density.</a:t>
            </a:r>
          </a:p>
          <a:p>
            <a:r>
              <a:rPr lang="en-GB" dirty="0"/>
              <a:t>Second generator (CLICK)= the grid (BECAUSE – constant v, f source).</a:t>
            </a:r>
          </a:p>
          <a:p>
            <a:r>
              <a:rPr lang="en-GB" dirty="0"/>
              <a:t>To connect PMSG – GRID, power electronics are </a:t>
            </a:r>
            <a:r>
              <a:rPr lang="en-GB" b="1" dirty="0"/>
              <a:t>normally</a:t>
            </a:r>
            <a:r>
              <a:rPr lang="en-GB" dirty="0"/>
              <a:t> used to adjust the PMSG’s parameters to the ones of the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92D0-D513-442F-A6B2-0F390BDCE09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7242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Different </a:t>
            </a:r>
            <a:r>
              <a:rPr lang="en-GB" b="1" dirty="0"/>
              <a:t>idea</a:t>
            </a:r>
            <a:r>
              <a:rPr lang="en-GB" dirty="0"/>
              <a:t> of connecting a PMSG to the grid.</a:t>
            </a:r>
          </a:p>
          <a:p>
            <a:r>
              <a:rPr lang="en-GB" b="1" dirty="0"/>
              <a:t>Constraints</a:t>
            </a:r>
            <a:r>
              <a:rPr lang="en-GB" dirty="0"/>
              <a:t> associated.</a:t>
            </a:r>
          </a:p>
          <a:p>
            <a:r>
              <a:rPr lang="en-GB" dirty="0"/>
              <a:t>The </a:t>
            </a:r>
            <a:r>
              <a:rPr lang="en-GB" b="1" dirty="0"/>
              <a:t>solution</a:t>
            </a:r>
            <a:r>
              <a:rPr lang="en-GB" dirty="0"/>
              <a:t> to the constraints</a:t>
            </a:r>
          </a:p>
          <a:p>
            <a:r>
              <a:rPr lang="en-GB" dirty="0"/>
              <a:t>And </a:t>
            </a:r>
            <a:r>
              <a:rPr lang="en-GB" b="1" dirty="0"/>
              <a:t>the device </a:t>
            </a:r>
            <a:r>
              <a:rPr lang="en-GB" dirty="0"/>
              <a:t>that will synchronise the generator called </a:t>
            </a:r>
            <a:r>
              <a:rPr lang="en-GB" dirty="0" err="1"/>
              <a:t>Synchroscope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Now, Project About excluding the Power Electronics </a:t>
            </a:r>
          </a:p>
          <a:p>
            <a:r>
              <a:rPr lang="en-GB" dirty="0"/>
              <a:t>In addition, a control and command block is needed (CLICK). Purpose – check parameters – make connection. The system brain.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92D0-D513-442F-A6B2-0F390BDCE09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32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seamless connection.</a:t>
            </a:r>
          </a:p>
          <a:p>
            <a:r>
              <a:rPr lang="en-GB" dirty="0"/>
              <a:t>Objective , device , automatically synch.</a:t>
            </a:r>
          </a:p>
          <a:p>
            <a:r>
              <a:rPr lang="en-GB" dirty="0"/>
              <a:t>Achieved = deliverables - simulation,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92D0-D513-442F-A6B2-0F390BDCE09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0688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PMSG TRADITIONAL CONNECTION, DISADVATAGES.</a:t>
            </a:r>
          </a:p>
          <a:p>
            <a:r>
              <a:rPr lang="en-GB" dirty="0"/>
              <a:t>PMSG is connected in such a way due to v/f proportions. It is suitable for wind turbine because of the different speeds the wind is having.</a:t>
            </a:r>
          </a:p>
          <a:p>
            <a:r>
              <a:rPr lang="en-GB" dirty="0"/>
              <a:t>Downsides: Losses, Complexity, Cost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92D0-D513-442F-A6B2-0F390BDCE09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635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counteract the disadvantages – direct connection proposed. </a:t>
            </a:r>
          </a:p>
          <a:p>
            <a:r>
              <a:rPr lang="en-GB" dirty="0"/>
              <a:t>2 Conditions (CLICK): 1. constant speed at shaft 2. specially magnetised magnets</a:t>
            </a:r>
          </a:p>
          <a:p>
            <a:r>
              <a:rPr lang="en-GB" dirty="0"/>
              <a:t>Next Why is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92D0-D513-442F-A6B2-0F390BDCE09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5050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How?!....</a:t>
            </a:r>
          </a:p>
          <a:p>
            <a:r>
              <a:rPr lang="en-GB" dirty="0"/>
              <a:t>Why have I choose this approach? -&gt; simple (the least complex, possible with today’s technology). </a:t>
            </a:r>
          </a:p>
          <a:p>
            <a:endParaRPr lang="en-GB" dirty="0"/>
          </a:p>
          <a:p>
            <a:r>
              <a:rPr lang="en-GB" dirty="0"/>
              <a:t>However, downsides: demagnetisation.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92D0-D513-442F-A6B2-0F390BDCE09B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193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Mechanical power provider EG: steam turbine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92D0-D513-442F-A6B2-0F390BDCE09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72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NEXT: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92D0-D513-442F-A6B2-0F390BDCE09B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0793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PMSG voltage VS Grid Voltage. </a:t>
            </a:r>
            <a:r>
              <a:rPr lang="en-GB" dirty="0" err="1"/>
              <a:t>Synchroscope</a:t>
            </a:r>
            <a:r>
              <a:rPr lang="en-GB" dirty="0"/>
              <a:t> adjusts the voltage to match the Grid.</a:t>
            </a:r>
          </a:p>
          <a:p>
            <a:r>
              <a:rPr lang="en-GB" dirty="0"/>
              <a:t>PMSG rotor speed</a:t>
            </a:r>
          </a:p>
          <a:p>
            <a:endParaRPr lang="en-GB" dirty="0"/>
          </a:p>
          <a:p>
            <a:r>
              <a:rPr lang="en-GB" dirty="0"/>
              <a:t>When the </a:t>
            </a:r>
            <a:r>
              <a:rPr lang="en-GB" dirty="0" err="1"/>
              <a:t>synchroscope</a:t>
            </a:r>
            <a:r>
              <a:rPr lang="en-GB" dirty="0"/>
              <a:t> decides to make the connection, </a:t>
            </a:r>
            <a:r>
              <a:rPr lang="en-GB" b="1" dirty="0"/>
              <a:t>oscillations</a:t>
            </a:r>
            <a:r>
              <a:rPr lang="en-GB" dirty="0"/>
              <a:t> – </a:t>
            </a:r>
            <a:r>
              <a:rPr lang="en-GB" b="1" dirty="0"/>
              <a:t>amount</a:t>
            </a:r>
            <a:r>
              <a:rPr lang="en-GB" dirty="0"/>
              <a:t> and </a:t>
            </a:r>
            <a:r>
              <a:rPr lang="en-GB" b="1" dirty="0"/>
              <a:t>amplitude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92D0-D513-442F-A6B2-0F390BDCE09B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58620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project has meet the aim, the objective and deliverable. With the help of the </a:t>
            </a:r>
            <a:r>
              <a:rPr lang="en-GB" dirty="0" err="1"/>
              <a:t>Synchroscope</a:t>
            </a:r>
            <a:r>
              <a:rPr lang="en-GB" dirty="0"/>
              <a:t>, the PMSG has successfully connect to the grid.  However, due to the complexity of the idea, many other aspects need to be investigated.</a:t>
            </a:r>
          </a:p>
          <a:p>
            <a:r>
              <a:rPr lang="en-GB" b="1" dirty="0"/>
              <a:t>Personal achievement:</a:t>
            </a:r>
          </a:p>
          <a:p>
            <a:r>
              <a:rPr lang="en-GB" dirty="0"/>
              <a:t>Because of the difficulty in finding other researches about grid-direct connection of a PMSG, I realised that we should never stop looking at the world with different eyes. That's what research is about.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92D0-D513-442F-A6B2-0F390BDCE09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388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	This presentation has shown a </a:t>
            </a:r>
            <a:r>
              <a:rPr lang="en-GB" b="1" dirty="0"/>
              <a:t>different way </a:t>
            </a:r>
            <a:r>
              <a:rPr lang="en-GB" dirty="0"/>
              <a:t>to connect a </a:t>
            </a:r>
            <a:r>
              <a:rPr lang="en-GB" b="0" dirty="0"/>
              <a:t>PMSG</a:t>
            </a:r>
            <a:r>
              <a:rPr lang="en-GB" b="1" dirty="0"/>
              <a:t> </a:t>
            </a:r>
            <a:r>
              <a:rPr lang="en-GB" b="0" dirty="0"/>
              <a:t>to the grid </a:t>
            </a:r>
            <a:r>
              <a:rPr lang="en-GB" b="1" dirty="0"/>
              <a:t>without</a:t>
            </a:r>
            <a:r>
              <a:rPr lang="en-GB" dirty="0"/>
              <a:t> the need of </a:t>
            </a:r>
            <a:r>
              <a:rPr lang="en-GB" b="1" dirty="0"/>
              <a:t>converters</a:t>
            </a:r>
            <a:r>
              <a:rPr lang="en-GB" dirty="0"/>
              <a:t>. </a:t>
            </a:r>
          </a:p>
          <a:p>
            <a:r>
              <a:rPr lang="en-GB" dirty="0"/>
              <a:t>	This is possible with the right </a:t>
            </a:r>
            <a:r>
              <a:rPr lang="en-GB" b="1" dirty="0"/>
              <a:t>generator specifications </a:t>
            </a:r>
            <a:r>
              <a:rPr lang="en-GB" dirty="0"/>
              <a:t>and </a:t>
            </a:r>
            <a:r>
              <a:rPr lang="en-GB" b="1" dirty="0"/>
              <a:t>constant speed </a:t>
            </a:r>
            <a:r>
              <a:rPr lang="en-GB" dirty="0"/>
              <a:t>at the shaft. </a:t>
            </a:r>
          </a:p>
          <a:p>
            <a:r>
              <a:rPr lang="en-GB" dirty="0"/>
              <a:t>	You have also seen one of the </a:t>
            </a:r>
            <a:r>
              <a:rPr lang="en-GB" b="1" dirty="0"/>
              <a:t>solutions</a:t>
            </a:r>
            <a:r>
              <a:rPr lang="en-GB" dirty="0"/>
              <a:t> of this task and it </a:t>
            </a:r>
            <a:r>
              <a:rPr lang="en-GB" b="1" dirty="0"/>
              <a:t>involves</a:t>
            </a:r>
            <a:r>
              <a:rPr lang="en-GB" dirty="0"/>
              <a:t> the use of a </a:t>
            </a:r>
            <a:r>
              <a:rPr lang="en-GB" b="1" dirty="0"/>
              <a:t>synchronisation</a:t>
            </a:r>
            <a:r>
              <a:rPr lang="en-GB" dirty="0"/>
              <a:t> device.</a:t>
            </a:r>
          </a:p>
          <a:p>
            <a:r>
              <a:rPr lang="en-GB" dirty="0"/>
              <a:t>	The </a:t>
            </a:r>
            <a:r>
              <a:rPr lang="en-GB" b="1" dirty="0" err="1"/>
              <a:t>Synchroscope</a:t>
            </a:r>
            <a:r>
              <a:rPr lang="en-GB" dirty="0"/>
              <a:t> is </a:t>
            </a:r>
            <a:r>
              <a:rPr lang="en-GB" b="0" dirty="0"/>
              <a:t>also explained and </a:t>
            </a:r>
            <a:r>
              <a:rPr lang="en-GB" b="1" dirty="0"/>
              <a:t>described</a:t>
            </a:r>
            <a:r>
              <a:rPr lang="en-GB" b="0" dirty="0"/>
              <a:t> as being the part of the system who deals with the synchronisation it self. Is the device that does calculations and takes actions towards a successful connection.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92D0-D513-442F-A6B2-0F390BDCE09B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5923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A792D0-D513-442F-A6B2-0F390BDCE09B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9121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DFF9752-20D9-46CD-A928-5C15D68E1BDC}" type="datetime1">
              <a:rPr lang="en-US" smtClean="0"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05AFF3-6300-4799-B6F1-4A1D4FC6F96D}" type="datetime1">
              <a:rPr lang="en-US" smtClean="0"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46180B-9B16-4478-AA95-7AE06CF0B650}" type="datetime1">
              <a:rPr lang="en-US" smtClean="0"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0347E-ECA4-46AD-92F0-BF7C416F187B}" type="datetime1">
              <a:rPr lang="en-US" smtClean="0"/>
              <a:t>9/13/2020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6698E-2FDE-44D1-AF49-4CF846DCEDF6}" type="datetime1">
              <a:rPr lang="en-US" smtClean="0"/>
              <a:t>9/13/2020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DDB569-6B13-4D4B-B548-F567C78216C8}" type="datetime1">
              <a:rPr lang="en-US" smtClean="0"/>
              <a:t>9/13/2020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80BE-2180-408C-BA33-648C67409153}" type="datetime1">
              <a:rPr lang="en-US" smtClean="0"/>
              <a:t>9/13/2020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3773F03-8D07-4CD9-B72B-D9A22BD6C3A6}" type="datetime1">
              <a:rPr lang="en-US" smtClean="0"/>
              <a:t>9/13/2020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CEEE809-C619-4254-B82A-1C014AFF972F}" type="datetime1">
              <a:rPr lang="en-US" smtClean="0"/>
              <a:t>9/13/2020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0438A-1583-493D-AE55-7728F7D0C1EB}" type="datetime1">
              <a:rPr lang="en-US" smtClean="0"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89D0D-4DBD-4169-AA3F-F71B1BACD033}" type="datetime1">
              <a:rPr lang="en-US" smtClean="0"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1E8D8C2A-D8A9-4278-BFFF-9DEEFC29CAD1}" type="datetime1">
              <a:rPr lang="en-US" smtClean="0"/>
              <a:t>9/13/2020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5F2AC-C14E-432B-BCCD-B7F6D341D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2651" y="2751091"/>
            <a:ext cx="7626697" cy="117788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4000" cap="none" dirty="0"/>
              <a:t>Design of a Synchronising Device </a:t>
            </a:r>
            <a:br>
              <a:rPr lang="en-GB" sz="4000" cap="none" dirty="0"/>
            </a:br>
            <a:r>
              <a:rPr lang="en-GB" sz="4000" cap="none" dirty="0"/>
              <a:t>For Parallel Generators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5BF2E7-4A4B-4BA5-A01E-CF4EA556E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164" y="4725545"/>
            <a:ext cx="6831673" cy="499810"/>
          </a:xfrm>
        </p:spPr>
        <p:txBody>
          <a:bodyPr>
            <a:normAutofit/>
          </a:bodyPr>
          <a:lstStyle/>
          <a:p>
            <a:r>
              <a:rPr lang="en-GB" sz="2400" i="1" dirty="0"/>
              <a:t>Author: </a:t>
            </a:r>
            <a:r>
              <a:rPr lang="en-GB" sz="2400" dirty="0"/>
              <a:t>Bogdan Bejan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6556C-61AB-4A4D-B79E-06B5EECF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B1991C-C33B-49F4-B342-E1FA2FBA8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737" y="404613"/>
            <a:ext cx="5531296" cy="14180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D298CF-D2AE-4C1E-B3B2-7C04A50C44E0}"/>
              </a:ext>
            </a:extLst>
          </p:cNvPr>
          <p:cNvSpPr txBox="1"/>
          <p:nvPr/>
        </p:nvSpPr>
        <p:spPr>
          <a:xfrm>
            <a:off x="2680164" y="5106636"/>
            <a:ext cx="6831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0" i="0" u="none" strike="noStrike" baseline="0" dirty="0">
                <a:solidFill>
                  <a:srgbClr val="000000"/>
                </a:solidFill>
              </a:rPr>
              <a:t>MSc Electrical and Electronic Engineering 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13B83A-B2F9-422D-9A04-8228B48DC229}"/>
              </a:ext>
            </a:extLst>
          </p:cNvPr>
          <p:cNvSpPr txBox="1"/>
          <p:nvPr/>
        </p:nvSpPr>
        <p:spPr>
          <a:xfrm>
            <a:off x="3874008" y="5648220"/>
            <a:ext cx="4443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300" i="1" dirty="0"/>
              <a:t>Supervisor</a:t>
            </a:r>
            <a:r>
              <a:rPr lang="en-GB" sz="2400" i="1" dirty="0"/>
              <a:t>: </a:t>
            </a:r>
            <a:r>
              <a:rPr lang="en-GB" sz="2400" dirty="0"/>
              <a:t>Zahra </a:t>
            </a:r>
            <a:r>
              <a:rPr lang="en-GB" sz="2400" dirty="0" err="1"/>
              <a:t>Sangelaji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53908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68D19-021A-48BB-960B-2B030B9BD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343" y="417786"/>
            <a:ext cx="9601200" cy="1084943"/>
          </a:xfrm>
        </p:spPr>
        <p:txBody>
          <a:bodyPr>
            <a:normAutofit/>
          </a:bodyPr>
          <a:lstStyle/>
          <a:p>
            <a:pPr algn="ctr"/>
            <a:r>
              <a:rPr lang="en-GB" sz="4000" dirty="0"/>
              <a:t>Permanent Magnet Synchronous Generator</a:t>
            </a:r>
            <a:br>
              <a:rPr lang="en-GB" sz="4000" dirty="0"/>
            </a:br>
            <a:r>
              <a:rPr lang="en-GB" sz="2400" dirty="0"/>
              <a:t>(PMSG)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3336DE-EDBB-4681-AF50-2CE4428352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69579" y="2716944"/>
            <a:ext cx="4363059" cy="250542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6FE4C6-C0A0-4DF2-9B97-E18AFFEF09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92000" y="1898851"/>
            <a:ext cx="2602955" cy="3546526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91E8972-0EFA-4DE4-BF61-31C247CE85FB}"/>
              </a:ext>
            </a:extLst>
          </p:cNvPr>
          <p:cNvSpPr/>
          <p:nvPr/>
        </p:nvSpPr>
        <p:spPr>
          <a:xfrm>
            <a:off x="6275024" y="3405413"/>
            <a:ext cx="1741714" cy="113084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tx1"/>
                </a:solidFill>
              </a:rPr>
              <a:t>POWER ELECTRONICS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9B14DC05-80AE-4719-BDAD-5B07975E73FC}"/>
              </a:ext>
            </a:extLst>
          </p:cNvPr>
          <p:cNvSpPr/>
          <p:nvPr/>
        </p:nvSpPr>
        <p:spPr>
          <a:xfrm>
            <a:off x="5305612" y="3672114"/>
            <a:ext cx="969412" cy="59508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4EB0461-9FC1-4395-A3DF-1E615ABECD94}"/>
              </a:ext>
            </a:extLst>
          </p:cNvPr>
          <p:cNvSpPr/>
          <p:nvPr/>
        </p:nvSpPr>
        <p:spPr>
          <a:xfrm>
            <a:off x="8016738" y="3672114"/>
            <a:ext cx="969412" cy="595086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0D930A9-820E-4650-A5DC-4B0AC845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647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7037E-6 L -0.25 -3.7037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7D8C29E8-38D4-4CA7-BDBC-CF77DD6B77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90586" y="1313991"/>
            <a:ext cx="3689764" cy="455981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3976989-1490-47DD-BD60-6BEA11A59CE7}"/>
              </a:ext>
            </a:extLst>
          </p:cNvPr>
          <p:cNvSpPr txBox="1"/>
          <p:nvPr/>
        </p:nvSpPr>
        <p:spPr>
          <a:xfrm>
            <a:off x="3711526" y="326273"/>
            <a:ext cx="4768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dirty="0"/>
              <a:t>Project Overview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66C804-E689-46B8-928E-6D4F746C000E}"/>
              </a:ext>
            </a:extLst>
          </p:cNvPr>
          <p:cNvSpPr txBox="1"/>
          <p:nvPr/>
        </p:nvSpPr>
        <p:spPr>
          <a:xfrm>
            <a:off x="6452384" y="1660724"/>
            <a:ext cx="5711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Content: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BEDD39-D6F5-40F5-A6B4-9C77C69046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1657" y="1929548"/>
            <a:ext cx="2506224" cy="32606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AD34A1-3AE7-45EC-8212-87A8E0BA485E}"/>
              </a:ext>
            </a:extLst>
          </p:cNvPr>
          <p:cNvSpPr txBox="1"/>
          <p:nvPr/>
        </p:nvSpPr>
        <p:spPr>
          <a:xfrm>
            <a:off x="7019781" y="2186914"/>
            <a:ext cx="5073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Connect a PMSG directly to the grid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C9CC9C-610D-473B-A429-5F4F8B2FD87A}"/>
              </a:ext>
            </a:extLst>
          </p:cNvPr>
          <p:cNvSpPr txBox="1"/>
          <p:nvPr/>
        </p:nvSpPr>
        <p:spPr>
          <a:xfrm>
            <a:off x="7019781" y="3593900"/>
            <a:ext cx="5073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How this is achieved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AC78B5-3F62-4860-8B39-C99574FA6C99}"/>
              </a:ext>
            </a:extLst>
          </p:cNvPr>
          <p:cNvSpPr txBox="1"/>
          <p:nvPr/>
        </p:nvSpPr>
        <p:spPr>
          <a:xfrm>
            <a:off x="7019781" y="2916824"/>
            <a:ext cx="5073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 constraints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58F1FA-06A4-4C2D-AB90-0FB59D7B594C}"/>
              </a:ext>
            </a:extLst>
          </p:cNvPr>
          <p:cNvSpPr txBox="1"/>
          <p:nvPr/>
        </p:nvSpPr>
        <p:spPr>
          <a:xfrm>
            <a:off x="7019781" y="4270977"/>
            <a:ext cx="50737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 synchronisation device called </a:t>
            </a:r>
            <a:r>
              <a:rPr lang="en-GB" sz="2000" dirty="0" err="1"/>
              <a:t>Synchroscope</a:t>
            </a:r>
            <a:endParaRPr lang="en-GB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F82F7B-782A-4510-BE5B-2FC32D1D1E4F}"/>
              </a:ext>
            </a:extLst>
          </p:cNvPr>
          <p:cNvSpPr txBox="1"/>
          <p:nvPr/>
        </p:nvSpPr>
        <p:spPr>
          <a:xfrm>
            <a:off x="3711526" y="847106"/>
            <a:ext cx="47689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Direct connection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F4062A-7827-458C-86DC-A11746EC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88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AF401-8E5F-4903-BD9F-439C95334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32581"/>
            <a:ext cx="9601200" cy="833511"/>
          </a:xfrm>
        </p:spPr>
        <p:txBody>
          <a:bodyPr>
            <a:normAutofit/>
          </a:bodyPr>
          <a:lstStyle/>
          <a:p>
            <a:pPr algn="ctr"/>
            <a:r>
              <a:rPr lang="en-GB" sz="3600" dirty="0"/>
              <a:t>Aims, Objectives and Deliverables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41830-8A06-42E4-A021-3C83584CD2B4}"/>
              </a:ext>
            </a:extLst>
          </p:cNvPr>
          <p:cNvSpPr txBox="1"/>
          <p:nvPr/>
        </p:nvSpPr>
        <p:spPr>
          <a:xfrm>
            <a:off x="2747962" y="1970494"/>
            <a:ext cx="6848475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Aim</a:t>
            </a:r>
          </a:p>
          <a:p>
            <a:pPr algn="ctr"/>
            <a:r>
              <a:rPr lang="en-GB" sz="2500" dirty="0"/>
              <a:t>Successful direct connection to the grid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711B30-9D40-484D-B6F5-75B5D3F0F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D3EDD6-D890-4140-B3F8-9323074E424E}"/>
              </a:ext>
            </a:extLst>
          </p:cNvPr>
          <p:cNvSpPr txBox="1"/>
          <p:nvPr/>
        </p:nvSpPr>
        <p:spPr>
          <a:xfrm>
            <a:off x="3457575" y="3143250"/>
            <a:ext cx="54292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Objective</a:t>
            </a:r>
          </a:p>
          <a:p>
            <a:pPr algn="ctr"/>
            <a:r>
              <a:rPr lang="en-GB" sz="2800" dirty="0"/>
              <a:t> </a:t>
            </a:r>
            <a:r>
              <a:rPr lang="en-GB" sz="2500" dirty="0"/>
              <a:t>Design </a:t>
            </a:r>
            <a:r>
              <a:rPr lang="en-GB" sz="2500" dirty="0" err="1"/>
              <a:t>Synchroscope</a:t>
            </a:r>
            <a:r>
              <a:rPr lang="en-GB" sz="2500" dirty="0"/>
              <a:t> device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DE21C1-906F-4722-8B3C-CAE4C4C3FE37}"/>
              </a:ext>
            </a:extLst>
          </p:cNvPr>
          <p:cNvSpPr txBox="1"/>
          <p:nvPr/>
        </p:nvSpPr>
        <p:spPr>
          <a:xfrm>
            <a:off x="3457575" y="4362172"/>
            <a:ext cx="5429250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Deliverable</a:t>
            </a:r>
          </a:p>
          <a:p>
            <a:pPr algn="ctr"/>
            <a:r>
              <a:rPr lang="en-GB" sz="2500" dirty="0"/>
              <a:t>System simulation using </a:t>
            </a:r>
            <a:r>
              <a:rPr lang="en-GB" sz="2500" dirty="0" err="1"/>
              <a:t>Matlab</a:t>
            </a:r>
            <a:endParaRPr lang="en-GB" sz="2500" dirty="0"/>
          </a:p>
        </p:txBody>
      </p:sp>
    </p:spTree>
    <p:extLst>
      <p:ext uri="{BB962C8B-B14F-4D97-AF65-F5344CB8AC3E}">
        <p14:creationId xmlns:p14="http://schemas.microsoft.com/office/powerpoint/2010/main" val="1420647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E6D33-B981-43C7-8C14-D044A725D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7325" y="441390"/>
            <a:ext cx="9601200" cy="1098420"/>
          </a:xfrm>
        </p:spPr>
        <p:txBody>
          <a:bodyPr>
            <a:noAutofit/>
          </a:bodyPr>
          <a:lstStyle/>
          <a:p>
            <a:pPr algn="ctr"/>
            <a:r>
              <a:rPr lang="en-GB" sz="3600" dirty="0"/>
              <a:t>Permanent Magnet Synchronous Generators</a:t>
            </a:r>
            <a:br>
              <a:rPr lang="en-GB" sz="3600" dirty="0"/>
            </a:br>
            <a:r>
              <a:rPr lang="en-GB" sz="2800" dirty="0"/>
              <a:t>Traditional Grid Connection</a:t>
            </a:r>
            <a:endParaRPr lang="en-GB" sz="3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F5D315-BA43-4A93-9823-8370D8C327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94474" y="2723386"/>
            <a:ext cx="9326899" cy="14112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E94B70-0629-4942-B281-E9BA709FEEEE}"/>
              </a:ext>
            </a:extLst>
          </p:cNvPr>
          <p:cNvSpPr txBox="1"/>
          <p:nvPr/>
        </p:nvSpPr>
        <p:spPr>
          <a:xfrm>
            <a:off x="3283440" y="4831913"/>
            <a:ext cx="1187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Losses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AFB3F9-EDD8-43E5-B56E-F035DB991DE7}"/>
              </a:ext>
            </a:extLst>
          </p:cNvPr>
          <p:cNvSpPr txBox="1"/>
          <p:nvPr/>
        </p:nvSpPr>
        <p:spPr>
          <a:xfrm>
            <a:off x="5452398" y="4803983"/>
            <a:ext cx="1611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Complexity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96EF92-BAE6-4829-B318-30B49D73C9F1}"/>
              </a:ext>
            </a:extLst>
          </p:cNvPr>
          <p:cNvSpPr txBox="1"/>
          <p:nvPr/>
        </p:nvSpPr>
        <p:spPr>
          <a:xfrm>
            <a:off x="8045282" y="4803982"/>
            <a:ext cx="8421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Cost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CC49C5-ED7F-4ABE-97F9-63AE09A43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252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5FA6D-FCBB-4353-A3BC-482AFC5E5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0296" y="2302750"/>
            <a:ext cx="3055256" cy="42063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GB" sz="2400" dirty="0"/>
              <a:t>DIRECT CONNECTION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8B89BE-DF69-4F6D-9793-12D13FD41580}"/>
              </a:ext>
            </a:extLst>
          </p:cNvPr>
          <p:cNvSpPr txBox="1"/>
          <p:nvPr/>
        </p:nvSpPr>
        <p:spPr>
          <a:xfrm>
            <a:off x="4608965" y="4555249"/>
            <a:ext cx="29740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Constant shaft speed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70C3F1-CFB0-46BD-872B-7BC892BAB708}"/>
              </a:ext>
            </a:extLst>
          </p:cNvPr>
          <p:cNvSpPr txBox="1"/>
          <p:nvPr/>
        </p:nvSpPr>
        <p:spPr>
          <a:xfrm>
            <a:off x="4018188" y="5318189"/>
            <a:ext cx="4155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Specially magnetised magnets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B2495B9-95C9-4757-8A29-35F075CB3A4A}"/>
              </a:ext>
            </a:extLst>
          </p:cNvPr>
          <p:cNvSpPr txBox="1">
            <a:spLocks/>
          </p:cNvSpPr>
          <p:nvPr/>
        </p:nvSpPr>
        <p:spPr>
          <a:xfrm>
            <a:off x="1457325" y="441390"/>
            <a:ext cx="9601200" cy="10984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 dirty="0"/>
              <a:t>Permanent Magnet Synchronous Generators</a:t>
            </a:r>
            <a:br>
              <a:rPr lang="en-GB" sz="3600" dirty="0"/>
            </a:br>
            <a:r>
              <a:rPr lang="en-GB" sz="2800" dirty="0"/>
              <a:t>Proposed Solution</a:t>
            </a:r>
            <a:endParaRPr lang="en-GB" sz="3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85F2873-961D-4D27-86F7-F94465655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4475" y="2723386"/>
            <a:ext cx="9326899" cy="1411227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379238E-109A-46BD-BD0C-3D1D04890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055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86009-1F0E-4A62-9C5A-A6AEEC792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31304"/>
            <a:ext cx="10283371" cy="79158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4000" dirty="0"/>
              <a:t>Specially magnetised magnets</a:t>
            </a:r>
            <a:br>
              <a:rPr lang="en-GB" sz="2800" dirty="0"/>
            </a:br>
            <a:r>
              <a:rPr lang="en-GB" sz="2800" dirty="0"/>
              <a:t>Why?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DD8AC-4EAD-4FAE-9202-436B703B655F}"/>
              </a:ext>
            </a:extLst>
          </p:cNvPr>
          <p:cNvSpPr txBox="1"/>
          <p:nvPr/>
        </p:nvSpPr>
        <p:spPr>
          <a:xfrm>
            <a:off x="3071818" y="5618202"/>
            <a:ext cx="1993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Least complex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793233-8535-41A7-B631-6060CE63F5D4}"/>
              </a:ext>
            </a:extLst>
          </p:cNvPr>
          <p:cNvSpPr txBox="1"/>
          <p:nvPr/>
        </p:nvSpPr>
        <p:spPr>
          <a:xfrm>
            <a:off x="8124692" y="5618202"/>
            <a:ext cx="2437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Simple to implement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24B6F8-F5A5-47DF-8D7E-68051623B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804" y="1934810"/>
            <a:ext cx="3714286" cy="2609524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E381DDF-00D2-4DE6-AD74-F4171DFE8E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279209" y="1925286"/>
            <a:ext cx="3733333" cy="2619048"/>
          </a:xfr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F80DF77-B492-4FD5-8B7B-9A5B3561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526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777E2-FC99-4AA6-A0E2-5973F6CDA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85564"/>
            <a:ext cx="9601200" cy="704850"/>
          </a:xfrm>
        </p:spPr>
        <p:txBody>
          <a:bodyPr/>
          <a:lstStyle/>
          <a:p>
            <a:pPr algn="ctr"/>
            <a:r>
              <a:rPr lang="en-GB" sz="3600" dirty="0" err="1"/>
              <a:t>Synchroscope</a:t>
            </a:r>
            <a:r>
              <a:rPr lang="en-GB" dirty="0"/>
              <a:t> </a:t>
            </a:r>
            <a:r>
              <a:rPr lang="en-GB" sz="3600" dirty="0"/>
              <a:t>connections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E6DC9-A38D-4DBD-AE80-19BF43DEB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497A543-E6F7-485D-BED0-78769530EF53}"/>
              </a:ext>
            </a:extLst>
          </p:cNvPr>
          <p:cNvSpPr/>
          <p:nvPr/>
        </p:nvSpPr>
        <p:spPr>
          <a:xfrm>
            <a:off x="4829175" y="2133599"/>
            <a:ext cx="2990850" cy="914400"/>
          </a:xfrm>
          <a:prstGeom prst="round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200" dirty="0" err="1"/>
              <a:t>Synchroscope</a:t>
            </a:r>
            <a:endParaRPr lang="en-GB" sz="3200" dirty="0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CA43095E-0E24-4909-883E-B829B655185A}"/>
              </a:ext>
            </a:extLst>
          </p:cNvPr>
          <p:cNvSpPr/>
          <p:nvPr/>
        </p:nvSpPr>
        <p:spPr>
          <a:xfrm>
            <a:off x="3056547" y="2362200"/>
            <a:ext cx="1514475" cy="457200"/>
          </a:xfrm>
          <a:prstGeom prst="leftArrow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E1F6BC-1260-4D6F-A9E4-A5BED3B4542F}"/>
              </a:ext>
            </a:extLst>
          </p:cNvPr>
          <p:cNvSpPr txBox="1"/>
          <p:nvPr/>
        </p:nvSpPr>
        <p:spPr>
          <a:xfrm>
            <a:off x="1399197" y="1990634"/>
            <a:ext cx="1438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/>
              <a:t>2/3 grid’s phases</a:t>
            </a: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62E40D11-4302-4951-9487-9DD2CDA81737}"/>
              </a:ext>
            </a:extLst>
          </p:cNvPr>
          <p:cNvSpPr/>
          <p:nvPr/>
        </p:nvSpPr>
        <p:spPr>
          <a:xfrm flipH="1">
            <a:off x="8078178" y="2362200"/>
            <a:ext cx="1514475" cy="457200"/>
          </a:xfrm>
          <a:prstGeom prst="leftArrow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24F250-B9C3-4C12-9835-638A13B10371}"/>
              </a:ext>
            </a:extLst>
          </p:cNvPr>
          <p:cNvSpPr txBox="1"/>
          <p:nvPr/>
        </p:nvSpPr>
        <p:spPr>
          <a:xfrm flipH="1">
            <a:off x="9811728" y="1990634"/>
            <a:ext cx="1438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2/3 PMSG’s phases</a:t>
            </a:r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D9BBA1F5-7AAC-4199-9D04-F01FD08B18F7}"/>
              </a:ext>
            </a:extLst>
          </p:cNvPr>
          <p:cNvSpPr/>
          <p:nvPr/>
        </p:nvSpPr>
        <p:spPr>
          <a:xfrm rot="16200000">
            <a:off x="5567363" y="3862585"/>
            <a:ext cx="1514475" cy="457200"/>
          </a:xfrm>
          <a:prstGeom prst="leftArrow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2D0D2A-AD52-4515-A4E3-C3BDB7F5A9DB}"/>
              </a:ext>
            </a:extLst>
          </p:cNvPr>
          <p:cNvSpPr txBox="1"/>
          <p:nvPr/>
        </p:nvSpPr>
        <p:spPr>
          <a:xfrm flipH="1">
            <a:off x="3912882" y="5134371"/>
            <a:ext cx="48234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Mechanical power provider equipment</a:t>
            </a:r>
          </a:p>
        </p:txBody>
      </p:sp>
    </p:spTree>
    <p:extLst>
      <p:ext uri="{BB962C8B-B14F-4D97-AF65-F5344CB8AC3E}">
        <p14:creationId xmlns:p14="http://schemas.microsoft.com/office/powerpoint/2010/main" val="4251576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BC22C-3B57-44E7-8B35-3F659D67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39057"/>
            <a:ext cx="9601200" cy="664029"/>
          </a:xfrm>
        </p:spPr>
        <p:txBody>
          <a:bodyPr>
            <a:normAutofit/>
          </a:bodyPr>
          <a:lstStyle/>
          <a:p>
            <a:pPr algn="ctr"/>
            <a:r>
              <a:rPr lang="en-GB" sz="3600" dirty="0" err="1"/>
              <a:t>Synchroscope</a:t>
            </a:r>
            <a:r>
              <a:rPr lang="en-GB" sz="3600" dirty="0"/>
              <a:t> logic</a:t>
            </a:r>
            <a:endParaRPr lang="en-GB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A9CE66-FD76-4A16-AC4C-6F6F4BB08A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/>
        </p:blipFill>
        <p:spPr>
          <a:xfrm>
            <a:off x="2999921" y="1103086"/>
            <a:ext cx="5315857" cy="5315857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93005-A322-458E-9BC1-41997556F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386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E1386-1D9A-4E7A-A8BD-DB27FE4CC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67346"/>
            <a:ext cx="9601200" cy="60055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Successful connection 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C7445B-F2EB-4375-8B87-71018E3615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64869" y="2093059"/>
            <a:ext cx="4662262" cy="309808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168886-FD5E-4617-A600-42622EE3C3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/>
          <a:stretch/>
        </p:blipFill>
        <p:spPr>
          <a:xfrm>
            <a:off x="3764869" y="1779211"/>
            <a:ext cx="4662262" cy="3725781"/>
          </a:xfr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468186-48DD-455E-9D0F-8837EC9B3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858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-0.21719 0.0050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59" y="25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48148E-6 L 0.24531 0.0023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66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741CF-8995-4D11-84EC-6CAA6767C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02236"/>
            <a:ext cx="9601200" cy="588364"/>
          </a:xfrm>
        </p:spPr>
        <p:txBody>
          <a:bodyPr>
            <a:normAutofit/>
          </a:bodyPr>
          <a:lstStyle/>
          <a:p>
            <a:pPr algn="ctr"/>
            <a:r>
              <a:rPr lang="en-GB" sz="3600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61B7B-AC34-4D19-95F5-86E2E820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11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56E666-A619-41D6-AB98-1734A6E099A0}"/>
              </a:ext>
            </a:extLst>
          </p:cNvPr>
          <p:cNvSpPr txBox="1"/>
          <p:nvPr/>
        </p:nvSpPr>
        <p:spPr>
          <a:xfrm>
            <a:off x="2691442" y="3075781"/>
            <a:ext cx="4364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dirty="0"/>
              <a:t>Grid direct connection</a:t>
            </a:r>
          </a:p>
          <a:p>
            <a:pPr algn="r"/>
            <a:r>
              <a:rPr lang="en-GB" sz="2400" dirty="0"/>
              <a:t>Synchronisation device</a:t>
            </a:r>
          </a:p>
          <a:p>
            <a:pPr algn="r"/>
            <a:r>
              <a:rPr lang="en-GB" sz="2400" dirty="0"/>
              <a:t>Simulation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7EB12B2-71D8-4248-A79A-AFAB47F84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6408" y="2828314"/>
            <a:ext cx="1447796" cy="144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39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F1084-3EC3-4721-AF7D-6B9363779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798068"/>
            <a:ext cx="9601200" cy="2305050"/>
          </a:xfrm>
        </p:spPr>
        <p:txBody>
          <a:bodyPr/>
          <a:lstStyle/>
          <a:p>
            <a:pPr marL="0" indent="0" algn="ctr">
              <a:buNone/>
            </a:pPr>
            <a:r>
              <a:rPr lang="en-GB" sz="2800" dirty="0"/>
              <a:t>Different way to connect a PMSG to the grid.</a:t>
            </a:r>
          </a:p>
          <a:p>
            <a:pPr marL="0" indent="0" algn="ctr">
              <a:buNone/>
            </a:pPr>
            <a:r>
              <a:rPr lang="en-GB" sz="2800" dirty="0"/>
              <a:t>Conditions for PMSG to directly connect to the grid.</a:t>
            </a:r>
          </a:p>
          <a:p>
            <a:pPr marL="0" indent="0" algn="ctr">
              <a:buNone/>
            </a:pPr>
            <a:r>
              <a:rPr lang="en-GB" sz="2800" dirty="0"/>
              <a:t>Solution towards a successful connection.</a:t>
            </a:r>
          </a:p>
          <a:p>
            <a:pPr marL="0" indent="0" algn="ctr">
              <a:buNone/>
            </a:pPr>
            <a:r>
              <a:rPr lang="en-GB" sz="2800" dirty="0"/>
              <a:t>The </a:t>
            </a:r>
            <a:r>
              <a:rPr lang="en-GB" sz="2800" dirty="0" err="1"/>
              <a:t>Synchroscope</a:t>
            </a:r>
            <a:r>
              <a:rPr lang="en-GB" sz="2800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960ED-11EA-4919-BF9C-B67B2AAF4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6160F27-B976-4E0D-9CB3-6F5FF325851D}"/>
              </a:ext>
            </a:extLst>
          </p:cNvPr>
          <p:cNvSpPr txBox="1">
            <a:spLocks/>
          </p:cNvSpPr>
          <p:nvPr/>
        </p:nvSpPr>
        <p:spPr>
          <a:xfrm>
            <a:off x="1467828" y="517971"/>
            <a:ext cx="9601200" cy="640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Franklin Gothic Book" panose="020B0503020102020204" pitchFamily="34" charset="0"/>
              <a:buNone/>
            </a:pPr>
            <a:r>
              <a:rPr lang="en-GB" sz="3600" dirty="0"/>
              <a:t>This presentation …</a:t>
            </a:r>
          </a:p>
        </p:txBody>
      </p:sp>
    </p:spTree>
    <p:extLst>
      <p:ext uri="{BB962C8B-B14F-4D97-AF65-F5344CB8AC3E}">
        <p14:creationId xmlns:p14="http://schemas.microsoft.com/office/powerpoint/2010/main" val="1509413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75BF2E7-4A4B-4BA5-A01E-CF4EA556E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0159" y="4579241"/>
            <a:ext cx="6831673" cy="499810"/>
          </a:xfrm>
        </p:spPr>
        <p:txBody>
          <a:bodyPr>
            <a:normAutofit/>
          </a:bodyPr>
          <a:lstStyle/>
          <a:p>
            <a:r>
              <a:rPr lang="en-GB" sz="2400" i="1" dirty="0"/>
              <a:t>Author: </a:t>
            </a:r>
            <a:r>
              <a:rPr lang="en-GB" sz="2400" dirty="0"/>
              <a:t>Bogdan Bejan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6556C-61AB-4A4D-B79E-06B5EECF0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B1991C-C33B-49F4-B342-E1FA2FBA8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737" y="404613"/>
            <a:ext cx="5531296" cy="14180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D298CF-D2AE-4C1E-B3B2-7C04A50C44E0}"/>
              </a:ext>
            </a:extLst>
          </p:cNvPr>
          <p:cNvSpPr txBox="1"/>
          <p:nvPr/>
        </p:nvSpPr>
        <p:spPr>
          <a:xfrm>
            <a:off x="2680159" y="4960332"/>
            <a:ext cx="68316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0" i="0" u="none" strike="noStrike" baseline="0" dirty="0">
                <a:solidFill>
                  <a:srgbClr val="000000"/>
                </a:solidFill>
              </a:rPr>
              <a:t>MSc Electrical and Electronic Engineering </a:t>
            </a:r>
            <a:endParaRPr lang="en-GB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13B83A-B2F9-422D-9A04-8228B48DC229}"/>
              </a:ext>
            </a:extLst>
          </p:cNvPr>
          <p:cNvSpPr txBox="1"/>
          <p:nvPr/>
        </p:nvSpPr>
        <p:spPr>
          <a:xfrm>
            <a:off x="3874003" y="5501916"/>
            <a:ext cx="44439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300" i="1" dirty="0"/>
              <a:t>Supervisor</a:t>
            </a:r>
            <a:r>
              <a:rPr lang="en-GB" sz="2400" i="1" dirty="0"/>
              <a:t>: </a:t>
            </a:r>
            <a:r>
              <a:rPr lang="en-GB" sz="2400" dirty="0"/>
              <a:t>Zahra </a:t>
            </a:r>
            <a:r>
              <a:rPr lang="en-GB" sz="2400" dirty="0" err="1"/>
              <a:t>Sangelaji</a:t>
            </a:r>
            <a:endParaRPr lang="en-GB" sz="24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D707EDE-B53B-42EA-84B4-A4AC0DF22B50}"/>
              </a:ext>
            </a:extLst>
          </p:cNvPr>
          <p:cNvSpPr txBox="1">
            <a:spLocks/>
          </p:cNvSpPr>
          <p:nvPr/>
        </p:nvSpPr>
        <p:spPr>
          <a:xfrm>
            <a:off x="1661160" y="2408317"/>
            <a:ext cx="8869680" cy="162261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  <a:defRPr sz="23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None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5400" dirty="0"/>
              <a:t>Thank you!</a:t>
            </a:r>
          </a:p>
          <a:p>
            <a:r>
              <a:rPr lang="en-GB" sz="54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91385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TM10001105[[fn=Crop]]</Template>
  <TotalTime>1025</TotalTime>
  <Words>675</Words>
  <Application>Microsoft Office PowerPoint</Application>
  <PresentationFormat>Widescreen</PresentationFormat>
  <Paragraphs>116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Calibri</vt:lpstr>
      <vt:lpstr>Franklin Gothic Book</vt:lpstr>
      <vt:lpstr>Crop</vt:lpstr>
      <vt:lpstr>Design of a Synchronising Device  For Parallel Generators</vt:lpstr>
      <vt:lpstr>Permanent Magnet Synchronous Generator (PMSG)</vt:lpstr>
      <vt:lpstr>PowerPoint Presentation</vt:lpstr>
      <vt:lpstr>Aims, Objectives and Deliverables</vt:lpstr>
      <vt:lpstr>Permanent Magnet Synchronous Generators Traditional Grid Connection</vt:lpstr>
      <vt:lpstr>PowerPoint Presentation</vt:lpstr>
      <vt:lpstr>Specially magnetised magnets Why?</vt:lpstr>
      <vt:lpstr>Synchroscope connections</vt:lpstr>
      <vt:lpstr>Synchroscope logic</vt:lpstr>
      <vt:lpstr>Successful connection !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of a Synchronising Device  for Parallel Generators</dc:title>
  <dc:creator>BoG</dc:creator>
  <cp:lastModifiedBy>Bogdan M Bejan</cp:lastModifiedBy>
  <cp:revision>75</cp:revision>
  <dcterms:created xsi:type="dcterms:W3CDTF">2020-09-11T18:11:48Z</dcterms:created>
  <dcterms:modified xsi:type="dcterms:W3CDTF">2020-09-13T19:05:35Z</dcterms:modified>
</cp:coreProperties>
</file>